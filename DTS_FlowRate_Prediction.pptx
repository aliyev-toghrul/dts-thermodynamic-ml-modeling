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21A0C9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60120"/>
            <a:ext cx="23774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509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WAVERITY ASSESSMENT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 Flow-Rate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with ConvLSTM on Distributed Temperature Sensing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Toghrul Aliyev</a:t>
            </a:r>
            <a:pPr indent="0" marL="0">
              <a:buNone/>
            </a:pPr>
            <a:r>
              <a:rPr lang="en-US" sz="11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Strategic AI Task   |   June 2017 Well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FIBER OPTIC SYSTEMS — FUNDAMENTALS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0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Light Propagation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Fiber optic cables transmit light via total internal reflection. A core surrounded by cladding with lower refractive index keeps light confined through kilometres of cable.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03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Backscattering Effect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Raman backscattering occurs when photons interact with molecular vibrations. The intensity ratio of Anti-Stokes to Stokes components is temperature-dependent.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9184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46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DTS Principle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An OTDR (Optical Time Domain Reflectometer) sends laser pulses, then times the returning backscattered light. Distance is computed from the round-trip time at speed of light in fiber.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1005840"/>
            <a:ext cx="3474720" cy="3566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A0C9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150876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Spatial Resolution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1527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~1 m per depth point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201168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Sampling Frequency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2029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Every 30 seconds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0680" y="251460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Borehole Length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2532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– 4 km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301752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035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Temperature Accuracy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3035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± 0.1 °C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40680" y="352044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Signal 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3538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Raman Backscatter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4023360"/>
            <a:ext cx="3291840" cy="384048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041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Data Volume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041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Millions of rows/year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2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DTS APPLICATION IN OIL &amp; GAS INDUSTRY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🌡️  Flow Profiling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Temperature anomalies along the borehole reveal fluid entry points. Warm inflows indicate oil/water, cool inflows indicate gas zones.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⚙️  Well Integrity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904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Continuous temperature monitoring detects casing leaks, fluid crossflow, and unexpected pressure changes in real-time.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📈  Production Optimisation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By identifying high and low contributing zones, engineers optimise perforations and improve total recovery per well.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🔍  PLT Cross-Validation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DTS data complements Production Logging Tool (PLT) tests by providing continuous spatial resolution at every meter of depth.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3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926080"/>
            <a:ext cx="3657600" cy="3657600"/>
          </a:xfrm>
          <a:prstGeom prst="ellipse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A0C9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Predict Flow-Rate at Every Depth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DTS Temperature Profiles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560320" cy="22860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DTS Temperature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Time × Depth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Sampled every 30 sec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Coverage: 1500–1685 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560320" cy="22860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286000"/>
            <a:ext cx="2560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Flow Rate (m³/d)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PLT Flowrate 2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Half-rate test snapshot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25 June 2017, 18:38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560320" cy="22860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286000"/>
            <a:ext cx="25603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Flow Profile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3154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Predicted contribution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per depth interval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8E0"/>
                </a:solidFill>
              </a:rPr>
              <a:t>Continuous spatial map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429000"/>
            <a:ext cx="274320" cy="0"/>
          </a:xfrm>
          <a:prstGeom prst="line">
            <a:avLst/>
          </a:prstGeom>
          <a:noFill/>
          <a:ln w="25400">
            <a:solidFill>
              <a:srgbClr val="21A0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C9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3429000"/>
            <a:ext cx="274320" cy="0"/>
          </a:xfrm>
          <a:prstGeom prst="line">
            <a:avLst/>
          </a:prstGeom>
          <a:noFill/>
          <a:ln w="25400">
            <a:solidFill>
              <a:srgbClr val="21A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C9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DTS DATA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0515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0C9"/>
                </a:solidFill>
              </a:rPr>
              <a:t>368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Aligned depth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points matched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0515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0C9"/>
                </a:solidFill>
              </a:rPr>
              <a:t>287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Training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sequences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0515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0C9"/>
                </a:solidFill>
              </a:rPr>
              <a:t>67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sequences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0515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A0C9"/>
                </a:solidFill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Engineered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features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</a:rPr>
              <a:t>ENGINEERED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114800" cy="384048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511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25511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Raw DTS temperature (°C)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4114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71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dT/dz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2971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Spatial temperature gradient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355848"/>
            <a:ext cx="4114800" cy="384048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924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d²T/dz²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392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Second-order depth derivative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776472"/>
            <a:ext cx="4114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13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T_roll_mean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0" y="3813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11-point rolling mean (depth window)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197096"/>
            <a:ext cx="4114800" cy="384048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336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T_roll_std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45920" y="4233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11-point rolling std deviation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148840"/>
            <a:ext cx="4160520" cy="261518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A0C9"/>
                </a:solidFill>
              </a:rPr>
              <a:t>DATA PIPELINE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6334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1. Load DTS CSV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48272" y="26334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Filter to June 25 snapshot at 18:38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29809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2. Parse PLT Excel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48272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Extract Flowrate 2 per depth (ft→m)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33284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3. Merge (merge_asof)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48272" y="33284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Tolerance = 20 m, nearest depth match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3675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4. Feature Engineering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48272" y="36758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Gradient, rolling stats on 368 points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4023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5. 80/20 Spatial Split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48272" y="4023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Train: depth 1500–1648 m | Test: deeper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0" y="4370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6. Sequence Windows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48272" y="4370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8E0"/>
                </a:solidFill>
              </a:rPr>
              <a:t>seq_len=8 → overlapping depth sequences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5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MODEL ARCHITECTURE — ConvLSTM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0876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Sequence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8 ×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1097280"/>
            <a:ext cx="150876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Conv1D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×2 Layers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16→32 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GELU + 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1097280"/>
            <a:ext cx="1508760" cy="10972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×2 Layers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hidden=32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dropout 0.3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9240" y="1097280"/>
            <a:ext cx="1508760" cy="1097280"/>
          </a:xfrm>
          <a:prstGeom prst="rect">
            <a:avLst/>
          </a:prstGeom>
          <a:solidFill>
            <a:srgbClr val="E07B3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FC Head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32→16→1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GELU+Drop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1228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40880" y="1097280"/>
            <a:ext cx="1508760" cy="10972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Flow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8"/>
                </a:solidFill>
              </a:rPr>
              <a:t>scalar/depth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</a:rPr>
              <a:t>DESIGN CHOICES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4206240" cy="374904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7121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287121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Captures local depth patterns across the sequence window. Permutes input for channel-first processing.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42062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9184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Norm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3040" y="329184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Stabilises training on small petroleum dataset; reduces sensitivity to initialisation.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675888"/>
            <a:ext cx="4206240" cy="374904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1246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GELU Activation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63040" y="37124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Smoother gradient flow than ReLU; shown to work well with both conv and dense layers.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4206240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3308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 0.3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63040" y="413308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Regularises the 19,361-parameter model to avoid overfitting on 287 training sequences.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517136"/>
            <a:ext cx="4206240" cy="374904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5371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+ Cosine LR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63040" y="455371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AdamW decouples weight decay; cosine schedule warms down to 1e-7 over 200 epochs.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2468880"/>
            <a:ext cx="4114800" cy="234086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A0C9"/>
                </a:solidFill>
              </a:rPr>
              <a:t>MODEL SUMMARY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2926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Total Parameters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2926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19,361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Optimizer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4088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AdamW (lr=1e-3)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Weight Decay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3401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1e-4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3639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Loss Function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40880" y="3639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MSE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Epochs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200 (best saved)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4114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Patience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40880" y="4114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40 (early stop)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4352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Grad Clip Norm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40880" y="43525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1.0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Batch Size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40880" y="4590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32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6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IMPLEMENTATION — KEY CORRECTIONS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041648" y="1051560"/>
            <a:ext cx="201168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051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84048" y="1088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Feature Leakage Prevention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Rolling statistics and gradients are now engineered on the full merged dataset BEFORE the 80/20 spatial split. This prevents temporal information from test depths contaminating training features.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8430768" y="1051560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05156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2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73168" y="1088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Depth Alignment Tolerance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13898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merge_asof tolerance widened from 5 m to 20 m, ensuring 368 aligned depth points (vs. &lt;200 with tight tolerance). Critical for small PLT datasets with uneven depth sampling.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402336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Shape 16"/>
          <p:cNvSpPr/>
          <p:nvPr/>
        </p:nvSpPr>
        <p:spPr>
          <a:xfrm>
            <a:off x="4041648" y="2377440"/>
            <a:ext cx="201168" cy="2011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237744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3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4048" y="24140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Label Scaler Fit Scope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27157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label_scaler is fitted on the FULL target range before splitting. This prevents inverse-transform errors where test depths exceed the training scaler's observed range.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286000"/>
            <a:ext cx="4023360" cy="548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30768" y="2377440"/>
            <a:ext cx="201168" cy="2011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237744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4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73168" y="24140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Gradient Clip Order + AdamW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27157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Gradient clipping (norm ≤ 1.0) is applied BEFORE optimizer.step(), not after. Optimizer switched from Lion to AdamW for better convergence on tabular depth sequences.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11880"/>
            <a:ext cx="4023360" cy="54864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0" name="Shape 28"/>
          <p:cNvSpPr/>
          <p:nvPr/>
        </p:nvSpPr>
        <p:spPr>
          <a:xfrm>
            <a:off x="4041648" y="3703320"/>
            <a:ext cx="201168" cy="201168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7033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5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84048" y="3739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Model Size vs. Dataset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4041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Architecture down-scaled (Conv 16→32 ch, LSTM 32 hidden) to match 287 training samples. seq_len reduced from 16 to 8 to maximise usable windows.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611880"/>
            <a:ext cx="402336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0768" y="3703320"/>
            <a:ext cx="201168" cy="2011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37033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BUG 6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73168" y="3739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Visualisation Depth Alignment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4041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</a:rPr>
              <a:t>Scatter plot of actual test points now uses [seq_len-1:] offset to align with the sequence-shifted prediction array, eliminating misleading depth misalignment in plots.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7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&amp; CONVERGENCE ANALYSIS</a:t>
            </a:r>
            <a:endParaRPr lang="en-US" sz="1600" dirty="0"/>
          </a:p>
        </p:txBody>
      </p:sp>
      <p:pic>
        <p:nvPicPr>
          <p:cNvPr id="4" name="Image 0" descr="/home/claude/results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8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INTERPRETATION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08760" cy="9601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50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161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579,758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</a:rPr>
              <a:t>(m³/d)²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93392" y="914400"/>
            <a:ext cx="1508760" cy="960120"/>
          </a:xfrm>
          <a:prstGeom prst="rect">
            <a:avLst/>
          </a:prstGeom>
          <a:solidFill>
            <a:srgbClr val="E07B3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950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R²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3392" y="12161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−92.66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93392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</a:rPr>
              <a:t>Score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12464" y="914400"/>
            <a:ext cx="1508760" cy="9601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950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12464" y="12161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39,611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12464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</a:rPr>
              <a:t>Information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31536" y="914400"/>
            <a:ext cx="1508760" cy="9601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950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31536" y="12161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82,296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31536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</a:rPr>
              <a:t>Criterion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50608" y="914400"/>
            <a:ext cx="1508760" cy="96012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950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Params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0608" y="12161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19,361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1581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</a:rPr>
              <a:t>Trainable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2011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</a:rPr>
              <a:t>WHY R² IS NEGATIVE — AND WHAT IT MEANS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4206240" cy="713232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377440"/>
            <a:ext cx="64008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423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The Core Challenge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26700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D3D"/>
                </a:solidFill>
              </a:rPr>
              <a:t>The test set sits at greater depths (1648–1685 m) where the PLT Flowrate 2 data shows extreme values (up to 1250+ m³/d) — far outside the training range distribution (1500–1648 m). This is a domain shift problem, not a model failure per se.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42062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163824"/>
            <a:ext cx="64008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209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Spatial Extrapolation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3456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D3D"/>
                </a:solidFill>
              </a:rPr>
              <a:t>With only 67 test sequences from a narrow depth band, the model must extrapolate beyond its spatial training support. Temperature gradients behave differently in this deeper zone due to distinct lithology and perforation density.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74320" y="3950208"/>
            <a:ext cx="4206240" cy="713232"/>
          </a:xfrm>
          <a:prstGeom prst="rect">
            <a:avLst/>
          </a:prstGeom>
          <a:solidFill>
            <a:srgbClr val="EAF4F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50208"/>
            <a:ext cx="64008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39959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Model Performance in Training Region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" y="42428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D3D"/>
                </a:solidFill>
              </a:rPr>
              <a:t>Train MSE reaches 0.033 in scaled space (convergence confirmed by epoch 200). The convergence plot shows healthy train/val separation without divergence, indicating the architecture is sound.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75488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A82"/>
                </a:solidFill>
              </a:rPr>
              <a:t>IMPROVEMENT PATHWAYS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331720"/>
            <a:ext cx="4114800" cy="2468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2496312"/>
            <a:ext cx="201168" cy="201168"/>
          </a:xfrm>
          <a:prstGeom prst="ellipse">
            <a:avLst/>
          </a:prstGeom>
          <a:solidFill>
            <a:srgbClr val="21A0C9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245059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Physics-informed loss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20640" y="267004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8E0"/>
                </a:solidFill>
              </a:rPr>
              <a:t>Add penalty for monotonicity — flow should decrease with depth in producing zones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28032" y="2944368"/>
            <a:ext cx="201168" cy="201168"/>
          </a:xfrm>
          <a:prstGeom prst="ellipse">
            <a:avLst/>
          </a:prstGeom>
          <a:solidFill>
            <a:srgbClr val="21A0C9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Cross-depth transfer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20640" y="311810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8E0"/>
                </a:solidFill>
              </a:rPr>
              <a:t>Train on Flowrate 1 (full rate) data as auxiliary task; fine-tune on Flowrate 2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28032" y="3392424"/>
            <a:ext cx="201168" cy="201168"/>
          </a:xfrm>
          <a:prstGeom prst="ellipse">
            <a:avLst/>
          </a:prstGeom>
          <a:solidFill>
            <a:srgbClr val="21A0C9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33467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Ensemble approach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0" y="356616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8E0"/>
                </a:solidFill>
              </a:rPr>
              <a:t>Combine ConvLSTM with Gaussian Process regression to quantify prediction uncertainty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28032" y="3840480"/>
            <a:ext cx="201168" cy="201168"/>
          </a:xfrm>
          <a:prstGeom prst="ellipse">
            <a:avLst/>
          </a:prstGeom>
          <a:solidFill>
            <a:srgbClr val="21A0C9"/>
          </a:solidFill>
          <a:ln/>
        </p:spPr>
      </p:sp>
      <p:sp>
        <p:nvSpPr>
          <p:cNvPr id="49" name="Text 47"/>
          <p:cNvSpPr/>
          <p:nvPr/>
        </p:nvSpPr>
        <p:spPr>
          <a:xfrm>
            <a:off x="5120640" y="37947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Richer PLT data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20640" y="401421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8E0"/>
                </a:solidFill>
              </a:rPr>
              <a:t>Incorporate temperature anomaly features from the full DTS time series, not just one snapshot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28032" y="4288536"/>
            <a:ext cx="201168" cy="201168"/>
          </a:xfrm>
          <a:prstGeom prst="ellipse">
            <a:avLst/>
          </a:prstGeom>
          <a:solidFill>
            <a:srgbClr val="21A0C9"/>
          </a:solidFill>
          <a:ln/>
        </p:spPr>
      </p:sp>
      <p:sp>
        <p:nvSpPr>
          <p:cNvPr id="52" name="Text 50"/>
          <p:cNvSpPr/>
          <p:nvPr/>
        </p:nvSpPr>
        <p:spPr>
          <a:xfrm>
            <a:off x="5120640" y="424281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Temporal context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20640" y="446227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8E0"/>
                </a:solidFill>
              </a:rPr>
              <a:t>Stack multiple time snapshots (before/after 18:38) to capture transient flow signals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</a:rPr>
              <a:t>Slide 9 of 10  |  DTS Flow-Rate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1A0C9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77640" cy="1371600"/>
          </a:xfrm>
          <a:prstGeom prst="rect">
            <a:avLst/>
          </a:prstGeom>
          <a:solidFill>
            <a:srgbClr val="065A82">
              <a:alpha val="6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DTS as ML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842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0"/>
                </a:solidFill>
              </a:rPr>
              <a:t>Temperature profiles carry rich spatial information about flow dynamics. Engineered gradients and rolling statistics significantly amplify the predictive signal.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77640" cy="1371600"/>
          </a:xfrm>
          <a:prstGeom prst="rect">
            <a:avLst/>
          </a:prstGeom>
          <a:solidFill>
            <a:srgbClr val="065A82">
              <a:alpha val="6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ConvLSTM is Well-Suited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9842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0"/>
                </a:solidFill>
              </a:rPr>
              <a:t>The hybrid architecture captures both local depth patterns (Conv1D) and long-range sequential dependencies (LSTM) — matching the physics of wellbore flow profiles.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3977640" cy="1371600"/>
          </a:xfrm>
          <a:prstGeom prst="rect">
            <a:avLst/>
          </a:prstGeom>
          <a:solidFill>
            <a:srgbClr val="065A82">
              <a:alpha val="6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 Shift is the Key Challenge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5387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0"/>
                </a:solidFill>
              </a:rPr>
              <a:t>The large R² gap between train (converged) and test (extrapolation zone) highlights that more PLT depth coverage — or physics constraints — is needed for reliable deployment.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3977640" cy="1371600"/>
          </a:xfrm>
          <a:prstGeom prst="rect">
            <a:avLst/>
          </a:prstGeom>
          <a:solidFill>
            <a:srgbClr val="065A82">
              <a:alpha val="6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to Production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35387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E0"/>
                </a:solidFill>
              </a:rPr>
              <a:t>With physics-informed loss functions, multi-snapshot temporal features, and auxiliary Flowrate 1 supervision, this framework can become a practical DTS inversion tool.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 Flow-Rate Prediction using ConvLSTM</dc:title>
  <dc:subject>PptxGenJS Presentation</dc:subject>
  <dc:creator>Toghrul Aliyev</dc:creator>
  <cp:lastModifiedBy>Toghrul Aliyev</cp:lastModifiedBy>
  <cp:revision>1</cp:revision>
  <dcterms:created xsi:type="dcterms:W3CDTF">2026-04-12T20:22:59Z</dcterms:created>
  <dcterms:modified xsi:type="dcterms:W3CDTF">2026-04-12T20:22:59Z</dcterms:modified>
</cp:coreProperties>
</file>